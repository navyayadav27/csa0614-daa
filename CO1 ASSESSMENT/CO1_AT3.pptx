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7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654116">
            <a:off x="8759896" y="1591056"/>
            <a:ext cx="1499728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3" name="Shape 1"/>
          <p:cNvSpPr/>
          <p:nvPr/>
        </p:nvSpPr>
        <p:spPr>
          <a:xfrm rot="6179677">
            <a:off x="9219819" y="1591056"/>
            <a:ext cx="1219962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4" name="Shape 2"/>
          <p:cNvSpPr/>
          <p:nvPr/>
        </p:nvSpPr>
        <p:spPr>
          <a:xfrm rot="4373836">
            <a:off x="9527981" y="1591056"/>
            <a:ext cx="1243718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5" name="Shape 3"/>
          <p:cNvSpPr/>
          <p:nvPr/>
        </p:nvSpPr>
        <p:spPr>
          <a:xfrm rot="2985819">
            <a:off x="9691296" y="1591056"/>
            <a:ext cx="1557167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6" name="Shape 4"/>
          <p:cNvSpPr/>
          <p:nvPr/>
        </p:nvSpPr>
        <p:spPr>
          <a:xfrm rot="6179677">
            <a:off x="8305419" y="2779776"/>
            <a:ext cx="1219962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7" name="Shape 5"/>
          <p:cNvSpPr/>
          <p:nvPr/>
        </p:nvSpPr>
        <p:spPr>
          <a:xfrm rot="4875230">
            <a:off x="8542647" y="2779776"/>
            <a:ext cx="1202705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8" name="Shape 6"/>
          <p:cNvSpPr/>
          <p:nvPr/>
        </p:nvSpPr>
        <p:spPr>
          <a:xfrm rot="5663922">
            <a:off x="9050804" y="2779776"/>
            <a:ext cx="1192232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9" name="Shape 7"/>
          <p:cNvSpPr/>
          <p:nvPr/>
        </p:nvSpPr>
        <p:spPr>
          <a:xfrm rot="4620323">
            <a:off x="9219819" y="2779776"/>
            <a:ext cx="1219962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10" name="Shape 8"/>
          <p:cNvSpPr/>
          <p:nvPr/>
        </p:nvSpPr>
        <p:spPr>
          <a:xfrm rot="5400000">
            <a:off x="9738360" y="2779776"/>
            <a:ext cx="1188720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11" name="Shape 9"/>
          <p:cNvSpPr/>
          <p:nvPr/>
        </p:nvSpPr>
        <p:spPr>
          <a:xfrm rot="4373836">
            <a:off x="9893741" y="2779776"/>
            <a:ext cx="1243718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12" name="Shape 10"/>
          <p:cNvSpPr/>
          <p:nvPr/>
        </p:nvSpPr>
        <p:spPr>
          <a:xfrm rot="5136078">
            <a:off x="10422404" y="2779776"/>
            <a:ext cx="1192232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13" name="Shape 11"/>
          <p:cNvSpPr/>
          <p:nvPr/>
        </p:nvSpPr>
        <p:spPr>
          <a:xfrm rot="4137749">
            <a:off x="10564594" y="2779776"/>
            <a:ext cx="1273612" cy="18288"/>
          </a:xfrm>
          <a:prstGeom prst="rect">
            <a:avLst/>
          </a:prstGeom>
          <a:solidFill>
            <a:srgbClr val="37457A"/>
          </a:solidFill>
          <a:ln/>
        </p:spPr>
      </p:sp>
      <p:sp>
        <p:nvSpPr>
          <p:cNvPr id="14" name="Shape 12"/>
          <p:cNvSpPr/>
          <p:nvPr/>
        </p:nvSpPr>
        <p:spPr>
          <a:xfrm>
            <a:off x="9820656" y="859536"/>
            <a:ext cx="292608" cy="292608"/>
          </a:xfrm>
          <a:prstGeom prst="ellipse">
            <a:avLst/>
          </a:prstGeom>
          <a:solidFill>
            <a:srgbClr val="F2A541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42832" y="2084832"/>
            <a:ext cx="219456" cy="219456"/>
          </a:xfrm>
          <a:prstGeom prst="ellipse">
            <a:avLst/>
          </a:prstGeom>
          <a:solidFill>
            <a:srgbClr val="1C7293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82912" y="2084832"/>
            <a:ext cx="219456" cy="219456"/>
          </a:xfrm>
          <a:prstGeom prst="ellipse">
            <a:avLst/>
          </a:prstGeom>
          <a:solidFill>
            <a:srgbClr val="1C7293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22992" y="2084832"/>
            <a:ext cx="219456" cy="219456"/>
          </a:xfrm>
          <a:prstGeom prst="ellipse">
            <a:avLst/>
          </a:prstGeom>
          <a:solidFill>
            <a:srgbClr val="1C7293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63072" y="2084832"/>
            <a:ext cx="219456" cy="219456"/>
          </a:xfrm>
          <a:prstGeom prst="ellipse">
            <a:avLst/>
          </a:prstGeom>
          <a:solidFill>
            <a:srgbClr val="1C7293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05088" y="3310128"/>
            <a:ext cx="146304" cy="146304"/>
          </a:xfrm>
          <a:prstGeom prst="ellipse">
            <a:avLst/>
          </a:prstGeom>
          <a:solidFill>
            <a:srgbClr val="2E3B6E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62288" y="3310128"/>
            <a:ext cx="146304" cy="146304"/>
          </a:xfrm>
          <a:prstGeom prst="ellipse">
            <a:avLst/>
          </a:prstGeom>
          <a:solidFill>
            <a:srgbClr val="2E3B6E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28048" y="3310128"/>
            <a:ext cx="146304" cy="146304"/>
          </a:xfrm>
          <a:prstGeom prst="ellipse">
            <a:avLst/>
          </a:prstGeom>
          <a:solidFill>
            <a:srgbClr val="2E3B6E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93808" y="3310128"/>
            <a:ext cx="146304" cy="146304"/>
          </a:xfrm>
          <a:prstGeom prst="ellipse">
            <a:avLst/>
          </a:prstGeom>
          <a:solidFill>
            <a:srgbClr val="2E3B6E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59568" y="3310128"/>
            <a:ext cx="146304" cy="146304"/>
          </a:xfrm>
          <a:prstGeom prst="ellipse">
            <a:avLst/>
          </a:prstGeom>
          <a:solidFill>
            <a:srgbClr val="2E3B6E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25328" y="3310128"/>
            <a:ext cx="146304" cy="146304"/>
          </a:xfrm>
          <a:prstGeom prst="ellipse">
            <a:avLst/>
          </a:prstGeom>
          <a:solidFill>
            <a:srgbClr val="2E3B6E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91088" y="3310128"/>
            <a:ext cx="146304" cy="146304"/>
          </a:xfrm>
          <a:prstGeom prst="ellipse">
            <a:avLst/>
          </a:prstGeom>
          <a:solidFill>
            <a:srgbClr val="2E3B6E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56848" y="3310128"/>
            <a:ext cx="146304" cy="146304"/>
          </a:xfrm>
          <a:prstGeom prst="ellipse">
            <a:avLst/>
          </a:prstGeom>
          <a:solidFill>
            <a:srgbClr val="2E3B6E"/>
          </a:solidFill>
          <a:ln w="9525">
            <a:solidFill>
              <a:srgbClr val="3745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 • RECURRENCE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" y="269748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T(n) = 4T(n/2) + n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 structure, Master Theorem application, and an efficiency verdict for a four-way divide-and-conquer recurrence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617720"/>
            <a:ext cx="128016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r>
              <a:rPr lang="en-US" sz="1200" dirty="0">
                <a:solidFill>
                  <a:srgbClr val="6E7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Technical Presentation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7193BB-A932-D5CD-AB39-F6529FF4F032}"/>
              </a:ext>
            </a:extLst>
          </p:cNvPr>
          <p:cNvSpPr txBox="1"/>
          <p:nvPr/>
        </p:nvSpPr>
        <p:spPr>
          <a:xfrm>
            <a:off x="7651102" y="4617720"/>
            <a:ext cx="3620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Navya Sri</a:t>
            </a: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192524170</a:t>
            </a:r>
          </a:p>
          <a:p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Tech AI&amp;DS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divide-and-conquer algorithms split an input of size n into 4 independent subproblems, each of half the size (n/2).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solving the 4 subproblems recursively, their solutions are merged in linear time, O(n).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judge whether this design is efficient, we need the running time T(n) as a closed-form function of n.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requires formulating the recurrence and solving it — here, using the Master Theorem.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78040" y="1600200"/>
            <a:ext cx="4434840" cy="2103120"/>
          </a:xfrm>
          <a:prstGeom prst="roundRect">
            <a:avLst>
              <a:gd name="adj" fmla="val 5217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8105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0" y="21488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4T</a:t>
            </a:r>
            <a:r>
              <a:rPr lang="en-US" sz="2600" b="1" dirty="0">
                <a:solidFill>
                  <a:srgbClr val="9F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(n/2)</a:t>
            </a:r>
            <a:r>
              <a:rPr lang="en-US" sz="26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06640" y="29260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subproblems  ×  half size  +  linear combine cost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78040" y="39776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7804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45537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calls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95944" y="39776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95944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=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41664" y="45537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factor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13848" y="3977640"/>
            <a:ext cx="1371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13848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59568" y="45537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453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9293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input of size n into 4 independent parts, each of size n/2.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1812" y="2103120"/>
            <a:ext cx="36576" cy="822960"/>
          </a:xfrm>
          <a:prstGeom prst="rect">
            <a:avLst/>
          </a:prstGeom>
          <a:solidFill>
            <a:srgbClr val="C7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9169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Conquer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3009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solve each of the 4 subproblems using the same strategy.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1812" y="3474720"/>
            <a:ext cx="36576" cy="822960"/>
          </a:xfrm>
          <a:prstGeom prst="rect">
            <a:avLst/>
          </a:prstGeom>
          <a:solidFill>
            <a:srgbClr val="C7D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2885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467258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4 partial solutions into the final answer in O(n) time.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23760" y="1691640"/>
            <a:ext cx="4114800" cy="2551176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0" y="1691640"/>
            <a:ext cx="2057400" cy="1275588"/>
          </a:xfrm>
          <a:prstGeom prst="rect">
            <a:avLst/>
          </a:prstGeom>
          <a:solidFill>
            <a:srgbClr val="065A82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691640"/>
            <a:ext cx="2057400" cy="829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2482505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n/2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281160" y="1691640"/>
            <a:ext cx="2057400" cy="1275588"/>
          </a:xfrm>
          <a:prstGeom prst="rect">
            <a:avLst/>
          </a:prstGeom>
          <a:solidFill>
            <a:srgbClr val="1C7293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691640"/>
            <a:ext cx="2057400" cy="829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81160" y="2482505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n/2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2967228"/>
            <a:ext cx="2057400" cy="1275588"/>
          </a:xfrm>
          <a:prstGeom prst="rect">
            <a:avLst/>
          </a:prstGeom>
          <a:solidFill>
            <a:srgbClr val="3E7CA6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967228"/>
            <a:ext cx="2057400" cy="829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23760" y="3758093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n/2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281160" y="2967228"/>
            <a:ext cx="2057400" cy="1275588"/>
          </a:xfrm>
          <a:prstGeom prst="rect">
            <a:avLst/>
          </a:prstGeom>
          <a:solidFill>
            <a:srgbClr val="6FA8C9">
              <a:alpha val="88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2967228"/>
            <a:ext cx="2057400" cy="829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281160" y="3758093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n/2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43799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of size n split into 4 equal quadrants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4791456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479145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step  </a:t>
            </a: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O(n)  </a:t>
            </a:r>
            <a:r>
              <a:rPr lang="en-US" sz="13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merge A, B, C, 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/ Pseudocode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434840"/>
          </a:xfrm>
          <a:prstGeom prst="roundRect">
            <a:avLst>
              <a:gd name="adj" fmla="val 2062"/>
            </a:avLst>
          </a:prstGeom>
          <a:solidFill>
            <a:srgbClr val="132339"/>
          </a:solidFill>
          <a:ln/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37360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737360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SOLVE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44144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82549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BASE_CASE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20954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59359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SOLVE(n / 2)    # subproblem 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SOLVE(n / 2)    # subproblem 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436168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SOLVE(n / 2)    # subproblem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74573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SOLVE(n / 2)    # subproblem 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512978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551383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6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COMBINE(A, B, C, D)  # O(n)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26680" y="1600200"/>
            <a:ext cx="3913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5528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RECURSIVE CALLS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20574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solves an independent subproblem of size n/2 — this is the “4T(n/2)” term.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26680" y="3246120"/>
            <a:ext cx="391363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55280" y="3401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70332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4 partial results takes time proportional to n — this is the “+ n” term.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4892040"/>
            <a:ext cx="3913632" cy="1097280"/>
          </a:xfrm>
          <a:prstGeom prst="roundRect">
            <a:avLst>
              <a:gd name="adj" fmla="val 8333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5029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5303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≤ 1 returns in O(1), anchoring the recursion.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TRACE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Example (Dry Run)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tree for n = 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79776" y="1545336"/>
            <a:ext cx="475488" cy="475488"/>
          </a:xfrm>
          <a:prstGeom prst="ellipse">
            <a:avLst/>
          </a:prstGeom>
          <a:solidFill>
            <a:srgbClr val="21295C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560320" y="15453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T(8)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9829670">
            <a:off x="1151046" y="2277770"/>
            <a:ext cx="1904149" cy="16459"/>
          </a:xfrm>
          <a:prstGeom prst="rect">
            <a:avLst/>
          </a:prstGeom>
          <a:solidFill>
            <a:srgbClr val="B9C6E3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551176"/>
            <a:ext cx="475488" cy="47548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5117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8778596">
            <a:off x="2141703" y="2277770"/>
            <a:ext cx="956106" cy="16459"/>
          </a:xfrm>
          <a:prstGeom prst="rect">
            <a:avLst/>
          </a:prstGeom>
          <a:solidFill>
            <a:srgbClr val="B9C6E3"/>
          </a:solidFill>
          <a:ln/>
        </p:spPr>
      </p:sp>
      <p:sp>
        <p:nvSpPr>
          <p:cNvPr id="11" name="Shape 9"/>
          <p:cNvSpPr/>
          <p:nvPr/>
        </p:nvSpPr>
        <p:spPr>
          <a:xfrm>
            <a:off x="1984248" y="2551176"/>
            <a:ext cx="475488" cy="47548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64792" y="255117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3951267">
            <a:off x="2845791" y="2277770"/>
            <a:ext cx="581202" cy="16459"/>
          </a:xfrm>
          <a:prstGeom prst="rect">
            <a:avLst/>
          </a:prstGeom>
          <a:solidFill>
            <a:srgbClr val="B9C6E3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2551176"/>
            <a:ext cx="475488" cy="47548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98064" y="255117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1350212">
            <a:off x="2964765" y="2277770"/>
            <a:ext cx="1385671" cy="16459"/>
          </a:xfrm>
          <a:prstGeom prst="rect">
            <a:avLst/>
          </a:prstGeom>
          <a:solidFill>
            <a:srgbClr val="B9C6E3"/>
          </a:solidFill>
          <a:ln/>
        </p:spPr>
      </p:sp>
      <p:sp>
        <p:nvSpPr>
          <p:cNvPr id="17" name="Shape 15"/>
          <p:cNvSpPr/>
          <p:nvPr/>
        </p:nvSpPr>
        <p:spPr>
          <a:xfrm>
            <a:off x="4059936" y="2551176"/>
            <a:ext cx="475488" cy="475488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255117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T(4)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7668392">
            <a:off x="647350" y="3283610"/>
            <a:ext cx="671259" cy="16459"/>
          </a:xfrm>
          <a:prstGeom prst="rect">
            <a:avLst/>
          </a:prstGeom>
          <a:solidFill>
            <a:srgbClr val="B9C6E3"/>
          </a:solidFill>
          <a:ln/>
        </p:spPr>
      </p:sp>
      <p:sp>
        <p:nvSpPr>
          <p:cNvPr id="20" name="Shape 18"/>
          <p:cNvSpPr/>
          <p:nvPr/>
        </p:nvSpPr>
        <p:spPr>
          <a:xfrm rot="3131608">
            <a:off x="1058830" y="3283610"/>
            <a:ext cx="671259" cy="16459"/>
          </a:xfrm>
          <a:prstGeom prst="rect">
            <a:avLst/>
          </a:prstGeom>
          <a:solidFill>
            <a:srgbClr val="B9C6E3"/>
          </a:solidFill>
          <a:ln/>
        </p:spPr>
      </p:sp>
      <p:sp>
        <p:nvSpPr>
          <p:cNvPr id="21" name="Shape 19"/>
          <p:cNvSpPr/>
          <p:nvPr/>
        </p:nvSpPr>
        <p:spPr>
          <a:xfrm rot="7668392">
            <a:off x="1680622" y="3283610"/>
            <a:ext cx="671259" cy="16459"/>
          </a:xfrm>
          <a:prstGeom prst="rect">
            <a:avLst/>
          </a:prstGeom>
          <a:solidFill>
            <a:srgbClr val="B9C6E3"/>
          </a:solidFill>
          <a:ln/>
        </p:spPr>
      </p:sp>
      <p:sp>
        <p:nvSpPr>
          <p:cNvPr id="22" name="Shape 20"/>
          <p:cNvSpPr/>
          <p:nvPr/>
        </p:nvSpPr>
        <p:spPr>
          <a:xfrm rot="3131608">
            <a:off x="2092102" y="3283610"/>
            <a:ext cx="671259" cy="16459"/>
          </a:xfrm>
          <a:prstGeom prst="rect">
            <a:avLst/>
          </a:prstGeom>
          <a:solidFill>
            <a:srgbClr val="B9C6E3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" y="3557016"/>
            <a:ext cx="475488" cy="47548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55701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T(2)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62456" y="3557016"/>
            <a:ext cx="475488" cy="47548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43000" y="355701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T(2)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72768" y="3557016"/>
            <a:ext cx="475488" cy="47548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353312" y="355701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T(2)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95728" y="3557016"/>
            <a:ext cx="475488" cy="475488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176272" y="355701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T(2)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2245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same branching pattern continues under every node  ⋮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05456" y="4654296"/>
            <a:ext cx="475488" cy="47548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86000" y="465429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T(1)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27248" y="4709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— O(1) work per leaf, n² leaves in total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1600200"/>
            <a:ext cx="448056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LEVEL OF THE TREE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2148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49640" y="214884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46920" y="2148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56132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60920" y="2496312"/>
            <a:ext cx="411480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255117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49640" y="255117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46920" y="255117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561320" y="25511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29535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49640" y="295351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46920" y="29535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n/2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561320" y="29535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06640" y="33558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49640" y="335584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646920" y="335584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561320" y="33558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06640" y="375818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549640" y="375818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646920" y="37581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561320" y="37581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406640" y="4160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549640" y="41605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646920" y="4160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561320" y="4160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60920" y="4535424"/>
            <a:ext cx="4114800" cy="384048"/>
          </a:xfrm>
          <a:prstGeom prst="rect">
            <a:avLst/>
          </a:prstGeom>
          <a:solidFill>
            <a:srgbClr val="FDF0DC"/>
          </a:solidFill>
          <a:ln/>
        </p:spPr>
      </p:sp>
      <p:sp>
        <p:nvSpPr>
          <p:cNvPr id="63" name="Text 61"/>
          <p:cNvSpPr/>
          <p:nvPr/>
        </p:nvSpPr>
        <p:spPr>
          <a:xfrm>
            <a:off x="7406640" y="456285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log₂n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549640" y="456285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n²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646920" y="45628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561320" y="45628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4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n²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06640" y="510235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per level doubles — the bottom (leaves) dominates the total.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MASTER THEOREM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420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aT(n/b) + f(n)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4,   b = 2,   f(n) = 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8163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critical exponent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737360" y="30906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n^(log₂ 4) = n²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1188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35935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f(n) with n²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737360" y="386791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n = O(n² ⁻ ε) for ε = 1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8912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0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Master Theorem case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737360" y="464515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 applies (subproblem work dominates)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— Case 1: if f(n) = O(n^(logᵇ a − ε)) for some ε &gt; 0, then T(n) = Θ(n^(logᵇ a)).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554480"/>
            <a:ext cx="4754880" cy="2834640"/>
          </a:xfrm>
          <a:prstGeom prst="roundRect">
            <a:avLst>
              <a:gd name="adj" fmla="val 4516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23317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Θ(n²)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7223760" y="35204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D9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runs in quadratic time — driven entirely by the recursive branching, not the linear combine step.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46177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46177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424160" y="4617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03720" y="4956048"/>
            <a:ext cx="4754880" cy="0"/>
          </a:xfrm>
          <a:prstGeom prst="line">
            <a:avLst/>
          </a:prstGeom>
          <a:noFill/>
          <a:ln w="12700">
            <a:solidFill>
              <a:srgbClr val="DCE3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4983480"/>
            <a:ext cx="4754880" cy="365760"/>
          </a:xfrm>
          <a:prstGeom prst="rect">
            <a:avLst/>
          </a:prstGeom>
          <a:solidFill>
            <a:srgbClr val="FDF0DC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50017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50017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O(n^(logᵇa−ε))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424160" y="500176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86600" y="538581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35240" y="53858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Θ(n^(logᵇa))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424160" y="53858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86600" y="576986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35240" y="57698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Ω(n^(logᵇa+ε))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424160" y="57698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T(n) = 4T(n/2) + n stacks up against related recurrences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09160" y="18745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f(n)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60920" y="1874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case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298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1109960" cy="3840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928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92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f(n)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1892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Theorem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6960" y="189280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258568"/>
            <a:ext cx="11109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2585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T(n/2) + 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225856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a=1, b=2, f(n)=n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258568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966960" y="2258568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916936"/>
            <a:ext cx="11109960" cy="658368"/>
          </a:xfrm>
          <a:prstGeom prst="rect">
            <a:avLst/>
          </a:prstGeom>
          <a:solidFill>
            <a:srgbClr val="EEF3FA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91693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2T(n/2) + 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291693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a=2, b=2, f(n)=n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916936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966960" y="291693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Θ(n log 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575304"/>
            <a:ext cx="11109960" cy="658368"/>
          </a:xfrm>
          <a:prstGeom prst="rect">
            <a:avLst/>
          </a:prstGeom>
          <a:solidFill>
            <a:srgbClr val="FDF0DC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7530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4T(n/2) + 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46320" y="3575304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a=4, b=2, f(n)=n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575304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966960" y="357530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60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Θ(n²)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233672"/>
            <a:ext cx="11109960" cy="658368"/>
          </a:xfrm>
          <a:prstGeom prst="rect">
            <a:avLst/>
          </a:prstGeom>
          <a:solidFill>
            <a:srgbClr val="EEF3FA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23367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4T(n/2) + n²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46320" y="423367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a=4, b=2, f(n)=n²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423367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966960" y="423367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Θ(n² log n)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892040"/>
            <a:ext cx="11109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8920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7T(n/2) + n²  (Strassen)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46320" y="48920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a=7, b=2, f(n)=n²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98080" y="48920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66960" y="489204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Θ(n²ᶜ⁷⁹⁶)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573328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reducing the branching factor a (as Strassen’s algorithm does, 4 → 7 sub-multiplications on n² work) changes the exponent — while keeping a fixed but growing f(n) only changes the log factor.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WHERE THIS SHOWS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Quadtree Image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partitioning of an image into 4 quadrants for compression and region search.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Matrix Operations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matrix addition/multiplication that splits an n×n matrix into four n/2×n/2 blocks.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8745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Grid &amp; Spatial Algorithms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queries and geometric search over 2D grids divided into four regions.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Graphics Rendering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space subdivision (quadtrees/octrees) for collision and visibility culling.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4663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PDE Solvers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5074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finite-difference solvers that recursively refine 2D domains.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069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663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/ GPU Workloads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5074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Four-way task decomposition mapped naturally onto parallel compute units.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300"/>
              </a:spcAft>
              <a:buSzPct val="100000"/>
              <a:buChar char="✦"/>
            </a:pPr>
            <a:r>
              <a:rPr lang="en-US" sz="13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recursion tree's per-level cost doubles at every level (n, 2n, 4n, …), so the work is dominated by the bottom of the tree — the n² base-case leaves.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300"/>
              </a:spcAft>
              <a:buSzPct val="100000"/>
              <a:buChar char="✦"/>
            </a:pPr>
            <a:r>
              <a:rPr lang="en-US" sz="13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leaves dominate, the O(n) combine step is asymptotically irrelevant: T(n) = Θ(n²) regardless of small changes to f(n).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300"/>
              </a:spcAft>
              <a:buSzPct val="100000"/>
              <a:buChar char="✦"/>
            </a:pPr>
            <a:r>
              <a:rPr lang="en-US" sz="13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Θ(n²) matches a straightforward brute-force approach on the same problem size — this divide-and-conquer design offers no asymptotic speed-up.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300"/>
              </a:spcAft>
              <a:buSzPct val="100000"/>
              <a:buChar char="✦"/>
            </a:pPr>
            <a:r>
              <a:rPr lang="en-US" sz="13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gains require reducing the branching factor a (e.g., Strassen's algorithm cuts 8 recursive multiplications to 7), not just reorganizing the combine step.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78040" y="1600200"/>
            <a:ext cx="44805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783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0" y="20574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06640" y="2834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computation over the full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0" y="33101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78040" y="3657600"/>
            <a:ext cx="4480560" cy="1737360"/>
          </a:xfrm>
          <a:prstGeom prst="roundRect">
            <a:avLst>
              <a:gd name="adj" fmla="val 6316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0B122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3840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D&amp;C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41148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Θ(n²)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406640" y="4892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D9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asymptotic order — efficiency here depends on constants, cache behavior, and parallelism, not big-O.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2926080"/>
          </a:xfrm>
          <a:prstGeom prst="roundRect">
            <a:avLst>
              <a:gd name="adj" fmla="val 3750"/>
            </a:avLst>
          </a:prstGeom>
          <a:solidFill>
            <a:srgbClr val="1A2352"/>
          </a:solidFill>
          <a:ln w="12700">
            <a:solidFill>
              <a:srgbClr val="2E3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61264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4T(n/2) + n solves, via the Master Theorem (Case 1), to T(n) = Θ(n²).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branching (4 calls at half size) dominates the linear combine cost — growth is driven by the n² leaves of the recursion tree.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400"/>
              </a:spcAft>
              <a:buSzPct val="100000"/>
              <a:buChar char="✦"/>
            </a:pPr>
            <a:r>
              <a:rPr lang="en-US" sz="13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 correct and clean, but not asymptotically faster than brute force; real efficiency gains would need fewer than 4 recursive branches.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6675120" cy="1188720"/>
          </a:xfrm>
          <a:prstGeom prst="roundRect">
            <a:avLst>
              <a:gd name="adj" fmla="val 9231"/>
            </a:avLst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0916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4T(n/2) + n  =  Θ(n²)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4160520" cy="4343400"/>
          </a:xfrm>
          <a:prstGeom prst="roundRect">
            <a:avLst>
              <a:gd name="adj" fmla="val 2637"/>
            </a:avLst>
          </a:prstGeom>
          <a:solidFill>
            <a:srgbClr val="1A2352"/>
          </a:solidFill>
          <a:ln w="12700">
            <a:solidFill>
              <a:srgbClr val="2E3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21945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2194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Leiserson, Rivest, Stein — Introduction to Algorithms (CLRS), 3rd/4th ed., Ch. 4: Divide-and-Conquer &amp; Master Theorem.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0" y="30632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Kleinberg, Tardos — Algorithm Design, Ch. 5: Divide and Conquer.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39319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39319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Sedgewick, Wayne — Algorithms, 4th ed., recursion tree method.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800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Strassen, V. (1969) — Gaussian Elimination is not Optimal, Numerische Mathematik.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7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 • Recurrence Analysis: T(n) = 4T(n/2) + 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7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1703</Words>
  <Application>Microsoft Office PowerPoint</Application>
  <PresentationFormat>Widescreen</PresentationFormat>
  <Paragraphs>243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GREESHMA REDDY</cp:lastModifiedBy>
  <cp:revision>3</cp:revision>
  <dcterms:created xsi:type="dcterms:W3CDTF">2026-07-22T08:01:08Z</dcterms:created>
  <dcterms:modified xsi:type="dcterms:W3CDTF">2026-08-11T13:29:30Z</dcterms:modified>
</cp:coreProperties>
</file>